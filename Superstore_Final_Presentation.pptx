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E507B-7306-4BDF-847F-110D4167589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6FBD2-4FDA-4244-80DA-5797EF46C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3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46FBD2-4FDA-4244-80DA-5797EF46C7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02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91127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Superstore 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564" y="2068945"/>
            <a:ext cx="632690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smtClean="0">
                <a:solidFill>
                  <a:schemeClr val="bg1"/>
                </a:solidFill>
              </a:rPr>
              <a:t>			</a:t>
            </a:r>
            <a:r>
              <a:rPr lang="en-US" sz="2000" b="1" dirty="0" smtClean="0">
                <a:solidFill>
                  <a:schemeClr val="bg1"/>
                </a:solidFill>
              </a:rPr>
              <a:t>Team </a:t>
            </a:r>
            <a:r>
              <a:rPr lang="en-US" sz="2000" b="1" dirty="0">
                <a:solidFill>
                  <a:schemeClr val="bg1"/>
                </a:solidFill>
              </a:rPr>
              <a:t>Members</a:t>
            </a:r>
            <a:r>
              <a:rPr lang="en-US" sz="2000" b="1" dirty="0" smtClean="0">
                <a:solidFill>
                  <a:schemeClr val="bg1"/>
                </a:solidFill>
              </a:rPr>
              <a:t>:</a:t>
            </a:r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Shemiramoth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Mugo</a:t>
            </a:r>
            <a:r>
              <a:rPr lang="en-US" dirty="0">
                <a:solidFill>
                  <a:schemeClr val="bg1"/>
                </a:solidFill>
              </a:rPr>
              <a:t> (SCT212-0061/2023)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Nicholas </a:t>
            </a:r>
            <a:r>
              <a:rPr lang="en-US" dirty="0" err="1">
                <a:solidFill>
                  <a:schemeClr val="bg1"/>
                </a:solidFill>
              </a:rPr>
              <a:t>Ndegwa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Mwangi</a:t>
            </a:r>
            <a:r>
              <a:rPr lang="en-US" dirty="0">
                <a:solidFill>
                  <a:schemeClr val="bg1"/>
                </a:solidFill>
              </a:rPr>
              <a:t> (SCT212-0046/2023)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Samuel </a:t>
            </a:r>
            <a:r>
              <a:rPr lang="en-US" dirty="0" err="1">
                <a:solidFill>
                  <a:schemeClr val="bg1"/>
                </a:solidFill>
              </a:rPr>
              <a:t>Kuria</a:t>
            </a:r>
            <a:r>
              <a:rPr lang="en-US" dirty="0">
                <a:solidFill>
                  <a:schemeClr val="bg1"/>
                </a:solidFill>
              </a:rPr>
              <a:t> (SCT212-0476/2023)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Gabriella </a:t>
            </a:r>
            <a:r>
              <a:rPr lang="en-US" dirty="0" err="1">
                <a:solidFill>
                  <a:schemeClr val="bg1"/>
                </a:solidFill>
              </a:rPr>
              <a:t>Muthoni</a:t>
            </a:r>
            <a:r>
              <a:rPr lang="en-US" dirty="0">
                <a:solidFill>
                  <a:schemeClr val="bg1"/>
                </a:solidFill>
              </a:rPr>
              <a:t> (SCT212-0330/2023)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Emmanuel </a:t>
            </a:r>
            <a:r>
              <a:rPr lang="en-US" dirty="0" err="1">
                <a:solidFill>
                  <a:schemeClr val="bg1"/>
                </a:solidFill>
              </a:rPr>
              <a:t>Mwangangi</a:t>
            </a:r>
            <a:r>
              <a:rPr lang="en-US" dirty="0">
                <a:solidFill>
                  <a:schemeClr val="bg1"/>
                </a:solidFill>
              </a:rPr>
              <a:t> (SCT212-0331/2023)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Linet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Waithira</a:t>
            </a:r>
            <a:r>
              <a:rPr lang="en-US" dirty="0">
                <a:solidFill>
                  <a:schemeClr val="bg1"/>
                </a:solidFill>
              </a:rPr>
              <a:t> (SCT212-0042/2023)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Cecil </a:t>
            </a:r>
            <a:r>
              <a:rPr lang="en-US" dirty="0" err="1">
                <a:solidFill>
                  <a:schemeClr val="bg1"/>
                </a:solidFill>
              </a:rPr>
              <a:t>Kioko</a:t>
            </a:r>
            <a:r>
              <a:rPr lang="en-US" dirty="0">
                <a:solidFill>
                  <a:schemeClr val="bg1"/>
                </a:solidFill>
              </a:rPr>
              <a:t> (SCT212-0047/2023)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Felix </a:t>
            </a:r>
            <a:r>
              <a:rPr lang="en-US" dirty="0" err="1">
                <a:solidFill>
                  <a:schemeClr val="bg1"/>
                </a:solidFill>
              </a:rPr>
              <a:t>Wanyoike</a:t>
            </a:r>
            <a:r>
              <a:rPr lang="en-US" dirty="0">
                <a:solidFill>
                  <a:schemeClr val="bg1"/>
                </a:solidFill>
              </a:rPr>
              <a:t> (SCC212-0248/2023)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Lee </a:t>
            </a:r>
            <a:r>
              <a:rPr lang="en-US" dirty="0" err="1">
                <a:solidFill>
                  <a:schemeClr val="bg1"/>
                </a:solidFill>
              </a:rPr>
              <a:t>Kariuki</a:t>
            </a:r>
            <a:r>
              <a:rPr lang="en-US" dirty="0">
                <a:solidFill>
                  <a:schemeClr val="bg1"/>
                </a:solidFill>
              </a:rPr>
              <a:t> (SCT212-0049/2023)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Problem: Despite strong sales, Superstore faces declining profitability in key areas.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Drivers of Loss: 1) Furniture Category, 2) Excessive Discounts, 3) Central Region Operations.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Opportunity: Recover over $70,000 in annual profit by eliminating negative-margin transactions.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Framework: We applied the EPIC framework to analyzing 9,994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Methodology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Data Source: Superstore Sales Dataset (Cleaned &amp; Processed).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Preprocessing: Removed duplicates, converted timestamps, engineered 'Delivery Days'.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Tools: Python (Pandas for ETL, Seaborn for Visualization).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Analysis Scope: Product profitability, Regional performance, and Discount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The 'Furniture' Problem</a:t>
            </a:r>
          </a:p>
        </p:txBody>
      </p:sp>
      <p:pic>
        <p:nvPicPr>
          <p:cNvPr id="3" name="Picture 2" descr="Chart_3_Sub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620" y="1653540"/>
            <a:ext cx="4442691" cy="370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Insight: Tables are the single worst-performing sub-category.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Financial Impact: Tables generate a total loss of approx -$17,000.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Root Cause: High shipping costs for heavy items combined with deep discounts make this category unsustainable.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The 20% Discount Trap</a:t>
            </a:r>
          </a:p>
        </p:txBody>
      </p:sp>
      <p:pic>
        <p:nvPicPr>
          <p:cNvPr id="3" name="Picture 2" descr="Chart_5_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236" y="1645920"/>
            <a:ext cx="4368800" cy="3369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436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Insight: There is a clear profitability threshold at 20% discount.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Observation: Transactions with discounts &gt;20% consistently result in a loss.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Inefficiency: We are effectively paying customers to take our inventory in these scenarios.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Regional Profit Drain</a:t>
            </a:r>
          </a:p>
        </p:txBody>
      </p:sp>
      <p:pic>
        <p:nvPicPr>
          <p:cNvPr id="3" name="Picture 2" descr="Chart_6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4387273" cy="3406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Insight: Texas is the primary driver of loss in the Central Region.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Financial Impact: Texas accounts for -$26,000 in net losses.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Context: High operational costs and aggressive promotions in Texas/Ohio are eroding gains from profitable states like California.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1. Discount Cap: Implement a hard 20% cap on discounts in the POS system.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2. Fix Central Region: Pause marketing spend in Texas and renegotiate shipping contracts.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3. Reprice Tables: Increase base price by 10% to cover logistics costs or discontinue specific SKUs.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4. Focus Q4: Shift Q4 strategy from volume-chasing to margin-preservation.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5400">
                <a:solidFill>
                  <a:srgbClr val="FFFFFF"/>
                </a:solidFill>
              </a:defRPr>
            </a:pPr>
            <a:r>
              <a:t>Questions?</a:t>
            </a:r>
            <a:br/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327</Words>
  <Application>Microsoft Office PowerPoint</Application>
  <PresentationFormat>On-screen Show (4:3)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2025-11-24T18:20:42Z</dcterms:modified>
  <cp:category/>
</cp:coreProperties>
</file>